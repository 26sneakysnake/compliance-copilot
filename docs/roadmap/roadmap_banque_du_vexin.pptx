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20f17713-ae03-1dc3-0053-2cc9e471c363}">
          <p14:sldIdLst>
            <p14:sldId id="256"/>
          </p14:sldIdLst>
        </p14:section>
        <p14:section name="Synthèse" id="{f0360ac7-8f9a-6d25-ff76-bf0515415da9}">
          <p14:sldIdLst>
            <p14:sldId id="257"/>
          </p14:sldIdLst>
        </p14:section>
        <p14:section name="Contexte" id="{8d404c0c-ca40-fbcf-878b-ba8b4685b5a8}">
          <p14:sldIdLst>
            <p14:sldId id="258"/>
          </p14:sldIdLst>
        </p14:section>
        <p14:section name="Analyse" id="{8d8b979f-bf36-c22a-33e9-dceb1afc4f4f}">
          <p14:sldIdLst>
            <p14:sldId id="259"/>
            <p14:sldId id="260"/>
            <p14:sldId id="261"/>
          </p14:sldIdLst>
        </p14:section>
        <p14:section name="Plan" id="{6c9ad8d2-a505-9c3d-c35d-4a751de22ab7}">
          <p14:sldIdLst>
            <p14:sldId id="262"/>
          </p14:sldIdLst>
        </p14:section>
        <p14:section name="Décisions" id="{968a07cd-f40d-7848-7b35-3fbdf855dce9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Livrable de cadrage pour une banque et assurance fictive. Les notes sont des hypothèses de travail, pas des mesures.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du Vexin est une banque fictive. Cas d'école construit pour le projet compliance-copilot.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B4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du Vexin est une banque fictive. Cas d'école construit pour le projet compliance-copilot.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B4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9D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FICTIF · DATA &amp; 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Feuille de route Data &amp; IA 2027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du Vexin : huit cas d'usage notés sur l'impact, l'effort et le risque réglementaire</a:t>
            </a:r>
            <a:endParaRPr lang="en-US" sz="1800" dirty="0"/>
          </a:p>
        </p:txBody>
      </p:sp>
      <p:sp>
        <p:nvSpPr>
          <p:cNvPr id="5" name="kpi0"/>
          <p:cNvSpPr/>
          <p:nvPr/>
        </p:nvSpPr>
        <p:spPr>
          <a:xfrm>
            <a:off x="548640" y="306324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1E3157"/>
          </a:solidFill>
          <a:ln w="12700">
            <a:solidFill>
              <a:srgbClr val="1E31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1546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9D5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évalués</a:t>
            </a:r>
            <a:endParaRPr lang="en-US" sz="1300" dirty="0"/>
          </a:p>
        </p:txBody>
      </p:sp>
      <p:sp>
        <p:nvSpPr>
          <p:cNvPr id="8" name="kpi1"/>
          <p:cNvSpPr/>
          <p:nvPr/>
        </p:nvSpPr>
        <p:spPr>
          <a:xfrm>
            <a:off x="2926080" y="306324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1E3157"/>
          </a:solidFill>
          <a:ln w="12700">
            <a:solidFill>
              <a:srgbClr val="1E31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08960" y="31546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9D5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vagues de déploiement</a:t>
            </a:r>
            <a:endParaRPr lang="en-US" sz="1300" dirty="0"/>
          </a:p>
        </p:txBody>
      </p:sp>
      <p:sp>
        <p:nvSpPr>
          <p:cNvPr id="11" name="kpi2"/>
          <p:cNvSpPr/>
          <p:nvPr/>
        </p:nvSpPr>
        <p:spPr>
          <a:xfrm>
            <a:off x="5303520" y="306324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1E3157"/>
          </a:solidFill>
          <a:ln w="12700">
            <a:solidFill>
              <a:srgbClr val="1E31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0" y="31546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9D5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haut risque AI Act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B4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interne et citée d'abord, haut risque ensuite</a:t>
            </a:r>
            <a:endParaRPr lang="en-US" sz="2400" dirty="0"/>
          </a:p>
        </p:txBody>
      </p:sp>
      <p:sp>
        <p:nvSpPr>
          <p:cNvPr id="3" name="num0"/>
          <p:cNvSpPr/>
          <p:nvPr/>
        </p:nvSpPr>
        <p:spPr>
          <a:xfrm>
            <a:off x="457200" y="123444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1887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1 : gains rapides à faible risque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7276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conformité, registre DORA et synthèse d'incidents : usages internes, sources citées, refus sans source.</a:t>
            </a:r>
            <a:endParaRPr lang="en-US" sz="1400" dirty="0"/>
          </a:p>
        </p:txBody>
      </p:sp>
      <p:sp>
        <p:nvSpPr>
          <p:cNvPr id="7" name="num1"/>
          <p:cNvSpPr/>
          <p:nvPr/>
        </p:nvSpPr>
        <p:spPr>
          <a:xfrm>
            <a:off x="457200" y="2350008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30428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2 : métiers, sous contrôle humain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688336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des réclamations IARD, assistant conseiller et fraude : l'IA propose, un humain décide.</a:t>
            </a:r>
            <a:endParaRPr lang="en-US" sz="1400" dirty="0"/>
          </a:p>
        </p:txBody>
      </p:sp>
      <p:sp>
        <p:nvSpPr>
          <p:cNvPr id="11" name="num2"/>
          <p:cNvSpPr/>
          <p:nvPr/>
        </p:nvSpPr>
        <p:spPr>
          <a:xfrm>
            <a:off x="457200" y="3465576"/>
            <a:ext cx="548640" cy="54864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465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419856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3 : haut risque, après le socle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803904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 et tarification santé relèvent de l'annexe III : obligations applicables au 2 décembre 2027.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calendrier réglementaire fixe l'ordre</a:t>
            </a:r>
            <a:endParaRPr lang="en-US" sz="2400" dirty="0"/>
          </a:p>
        </p:txBody>
      </p:sp>
      <p:sp>
        <p:nvSpPr>
          <p:cNvPr id="3" name="timeline"/>
          <p:cNvSpPr/>
          <p:nvPr/>
        </p:nvSpPr>
        <p:spPr>
          <a:xfrm>
            <a:off x="822960" y="2331720"/>
            <a:ext cx="7498080" cy="0"/>
          </a:xfrm>
          <a:prstGeom prst="line">
            <a:avLst/>
          </a:prstGeom>
          <a:noFill/>
          <a:ln w="25400">
            <a:solidFill>
              <a:srgbClr val="C3CCD7"/>
            </a:solidFill>
            <a:prstDash val="solid"/>
          </a:ln>
        </p:spPr>
      </p:sp>
      <p:sp>
        <p:nvSpPr>
          <p:cNvPr id="4" name="dot0"/>
          <p:cNvSpPr/>
          <p:nvPr/>
        </p:nvSpPr>
        <p:spPr>
          <a:xfrm>
            <a:off x="841248" y="2212848"/>
            <a:ext cx="237744" cy="237744"/>
          </a:xfrm>
          <a:prstGeom prst="ellipse">
            <a:avLst/>
          </a:prstGeom>
          <a:solidFill>
            <a:srgbClr val="0F766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32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janv. 2025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28600" y="1508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s'applique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28600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TIC, incidents, prestataires</a:t>
            </a:r>
            <a:endParaRPr lang="en-US" sz="1000" dirty="0"/>
          </a:p>
        </p:txBody>
      </p:sp>
      <p:sp>
        <p:nvSpPr>
          <p:cNvPr id="8" name="dot1"/>
          <p:cNvSpPr/>
          <p:nvPr/>
        </p:nvSpPr>
        <p:spPr>
          <a:xfrm>
            <a:off x="2286000" y="2212848"/>
            <a:ext cx="237744" cy="237744"/>
          </a:xfrm>
          <a:prstGeom prst="ellipse">
            <a:avLst/>
          </a:prstGeom>
          <a:solidFill>
            <a:srgbClr val="5B6B7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19072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févr. 2025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673352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: interdictions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673352" y="31821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culture de l'IA (art. 4)</a:t>
            </a:r>
            <a:endParaRPr lang="en-US" sz="1000" dirty="0"/>
          </a:p>
        </p:txBody>
      </p:sp>
      <p:sp>
        <p:nvSpPr>
          <p:cNvPr id="12" name="dot2"/>
          <p:cNvSpPr/>
          <p:nvPr/>
        </p:nvSpPr>
        <p:spPr>
          <a:xfrm>
            <a:off x="3730752" y="2212848"/>
            <a:ext cx="237744" cy="237744"/>
          </a:xfrm>
          <a:prstGeom prst="ellipse">
            <a:avLst/>
          </a:prstGeom>
          <a:solidFill>
            <a:srgbClr val="5B6B7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63824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août 2025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118104" y="1508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: modèles GPAI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118104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gouvernance, sanctions</a:t>
            </a:r>
            <a:endParaRPr lang="en-US" sz="1000" dirty="0"/>
          </a:p>
        </p:txBody>
      </p:sp>
      <p:sp>
        <p:nvSpPr>
          <p:cNvPr id="16" name="dot3"/>
          <p:cNvSpPr/>
          <p:nvPr/>
        </p:nvSpPr>
        <p:spPr>
          <a:xfrm>
            <a:off x="5175504" y="2212848"/>
            <a:ext cx="237744" cy="237744"/>
          </a:xfrm>
          <a:prstGeom prst="ellipse">
            <a:avLst/>
          </a:prstGeom>
          <a:solidFill>
            <a:srgbClr val="D9770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08576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août 2026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62856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: transparence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62856" y="31821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50, IA en interaction</a:t>
            </a:r>
            <a:endParaRPr lang="en-US" sz="1000" dirty="0"/>
          </a:p>
        </p:txBody>
      </p:sp>
      <p:sp>
        <p:nvSpPr>
          <p:cNvPr id="20" name="dot4"/>
          <p:cNvSpPr/>
          <p:nvPr/>
        </p:nvSpPr>
        <p:spPr>
          <a:xfrm>
            <a:off x="6620256" y="2212848"/>
            <a:ext cx="237744" cy="237744"/>
          </a:xfrm>
          <a:prstGeom prst="ellipse">
            <a:avLst/>
          </a:prstGeom>
          <a:solidFill>
            <a:srgbClr val="B4231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53328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déc. 2027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007608" y="1508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 risque annexe III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007608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crédit, santé (Omnibus)</a:t>
            </a:r>
            <a:endParaRPr lang="en-US" sz="1000" dirty="0"/>
          </a:p>
        </p:txBody>
      </p:sp>
      <p:sp>
        <p:nvSpPr>
          <p:cNvPr id="24" name="dot5"/>
          <p:cNvSpPr/>
          <p:nvPr/>
        </p:nvSpPr>
        <p:spPr>
          <a:xfrm>
            <a:off x="8065008" y="2212848"/>
            <a:ext cx="237744" cy="237744"/>
          </a:xfrm>
          <a:prstGeom prst="ellipse">
            <a:avLst/>
          </a:prstGeom>
          <a:solidFill>
            <a:srgbClr val="5B6B7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août 2028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 risque annexe I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31821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réglementés</a:t>
            </a:r>
            <a:endParaRPr lang="en-US" sz="1000" dirty="0"/>
          </a:p>
        </p:txBody>
      </p:sp>
      <p:sp>
        <p:nvSpPr>
          <p:cNvPr id="28" name="callout"/>
          <p:cNvSpPr/>
          <p:nvPr/>
        </p:nvSpPr>
        <p:spPr>
          <a:xfrm>
            <a:off x="457200" y="393192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395935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Digital Omnibus (règlement (UE) 2026/1744) a repoussé l'annexe III du 2 août 2026 au 2 décembre 2027 : 14 mois pour bâtir le socle de conformité.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axes de notation, le risque pèse autant que l'effort</a:t>
            </a:r>
            <a:endParaRPr lang="en-US" sz="2400" dirty="0"/>
          </a:p>
        </p:txBody>
      </p:sp>
      <p:sp>
        <p:nvSpPr>
          <p:cNvPr id="3" name="axis0"/>
          <p:cNvSpPr/>
          <p:nvPr/>
        </p:nvSpPr>
        <p:spPr>
          <a:xfrm>
            <a:off x="457200" y="1188720"/>
            <a:ext cx="2606040" cy="2011680"/>
          </a:xfrm>
          <a:prstGeom prst="roundRect">
            <a:avLst>
              <a:gd name="adj" fmla="val 272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axisdot0"/>
          <p:cNvSpPr/>
          <p:nvPr/>
        </p:nvSpPr>
        <p:spPr>
          <a:xfrm>
            <a:off x="685800" y="137160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1371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(1-5)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métier : temps économisé, pertes évitées, qualité de service. Compté double.</a:t>
            </a:r>
            <a:endParaRPr lang="en-US" sz="1300" dirty="0"/>
          </a:p>
        </p:txBody>
      </p:sp>
      <p:sp>
        <p:nvSpPr>
          <p:cNvPr id="7" name="axis1"/>
          <p:cNvSpPr/>
          <p:nvPr/>
        </p:nvSpPr>
        <p:spPr>
          <a:xfrm>
            <a:off x="3246120" y="1188720"/>
            <a:ext cx="2606040" cy="2011680"/>
          </a:xfrm>
          <a:prstGeom prst="roundRect">
            <a:avLst>
              <a:gd name="adj" fmla="val 272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axisdot1"/>
          <p:cNvSpPr/>
          <p:nvPr/>
        </p:nvSpPr>
        <p:spPr>
          <a:xfrm>
            <a:off x="3474720" y="1371600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1371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(1-5)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874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disponibles, intégration au SI, conduite du changement.</a:t>
            </a:r>
            <a:endParaRPr lang="en-US" sz="1300" dirty="0"/>
          </a:p>
        </p:txBody>
      </p:sp>
      <p:sp>
        <p:nvSpPr>
          <p:cNvPr id="11" name="axis2"/>
          <p:cNvSpPr/>
          <p:nvPr/>
        </p:nvSpPr>
        <p:spPr>
          <a:xfrm>
            <a:off x="6035040" y="1188720"/>
            <a:ext cx="2606040" cy="2011680"/>
          </a:xfrm>
          <a:prstGeom prst="roundRect">
            <a:avLst>
              <a:gd name="adj" fmla="val 272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axisdot2"/>
          <p:cNvSpPr/>
          <p:nvPr/>
        </p:nvSpPr>
        <p:spPr>
          <a:xfrm>
            <a:off x="6263640" y="1371600"/>
            <a:ext cx="365760" cy="36576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371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(1-5)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874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AI Act, données personnelles (RGPD), exposition client, dépendance fournisseur (DORA).</a:t>
            </a:r>
            <a:endParaRPr lang="en-US" sz="1300" dirty="0"/>
          </a:p>
        </p:txBody>
      </p:sp>
      <p:sp>
        <p:nvSpPr>
          <p:cNvPr id="15" name="formula"/>
          <p:cNvSpPr/>
          <p:nvPr/>
        </p:nvSpPr>
        <p:spPr>
          <a:xfrm>
            <a:off x="457200" y="347472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5204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Priorité = 2 × impact − effort − risque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D5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cas haut risque n'est lancé qu'une fois le socle en place : registre des risques, évaluation continue, journal d'audit.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Huit cas notés : le copilote conformité en tête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640080"/>
                <a:gridCol w="640080"/>
                <a:gridCol w="640080"/>
                <a:gridCol w="731520"/>
                <a:gridCol w="2514600"/>
                <a:gridCol w="5486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 d'usage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Vague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Copilote conformité (RAG cité)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haut risque (art. 50 transparence)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Registre DORA des prestataires 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Hors IA (automatisation)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Détection de fraude aux paiements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Exclue de l'annexe III 5(b)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Synthèse des incidents TIC majeurs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haut risque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 des réclamations IARD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haut risque sous conditions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Assistant conseiller (interne)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haut risque (art. 50)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de crédit particuliers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Haut risque (annexe III 5(b))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Tarification santé par 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Haut risque (annexe III 5(c))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et effort, la taille du cercle donne le risque</a:t>
            </a:r>
            <a:endParaRPr lang="en-US" sz="2400" dirty="0"/>
          </a:p>
        </p:txBody>
      </p:sp>
      <p:sp>
        <p:nvSpPr>
          <p:cNvPr id="3" name="quickwins"/>
          <p:cNvSpPr/>
          <p:nvPr/>
        </p:nvSpPr>
        <p:spPr>
          <a:xfrm>
            <a:off x="822960" y="1097280"/>
            <a:ext cx="2962656" cy="2029968"/>
          </a:xfrm>
          <a:prstGeom prst="rect">
            <a:avLst/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4" name="bigbets"/>
          <p:cNvSpPr/>
          <p:nvPr/>
        </p:nvSpPr>
        <p:spPr>
          <a:xfrm>
            <a:off x="3785616" y="1097280"/>
            <a:ext cx="1975104" cy="2029968"/>
          </a:xfrm>
          <a:prstGeom prst="rect">
            <a:avLst/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</p:sp>
      <p:sp>
        <p:nvSpPr>
          <p:cNvPr id="5" name="low"/>
          <p:cNvSpPr/>
          <p:nvPr/>
        </p:nvSpPr>
        <p:spPr>
          <a:xfrm>
            <a:off x="822960" y="3127248"/>
            <a:ext cx="4937760" cy="1353312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8346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rapides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877056" y="28346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stratégiques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impact : aucun cas retenu dans cette sélection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4526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→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37160" y="1280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→</a:t>
            </a:r>
            <a:endParaRPr lang="en-US" sz="1100" dirty="0"/>
          </a:p>
        </p:txBody>
      </p:sp>
      <p:sp>
        <p:nvSpPr>
          <p:cNvPr id="11" name="bubble_UC1"/>
          <p:cNvSpPr/>
          <p:nvPr/>
        </p:nvSpPr>
        <p:spPr>
          <a:xfrm>
            <a:off x="2130552" y="1938528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30552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bubble_UC2"/>
          <p:cNvSpPr/>
          <p:nvPr/>
        </p:nvSpPr>
        <p:spPr>
          <a:xfrm>
            <a:off x="1837944" y="2642616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37944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bubble_UC3"/>
          <p:cNvSpPr/>
          <p:nvPr/>
        </p:nvSpPr>
        <p:spPr>
          <a:xfrm>
            <a:off x="2450592" y="2615184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50592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bubble_UC4"/>
          <p:cNvSpPr/>
          <p:nvPr/>
        </p:nvSpPr>
        <p:spPr>
          <a:xfrm>
            <a:off x="2770632" y="1911096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70632" y="1911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bubble_UC5"/>
          <p:cNvSpPr/>
          <p:nvPr/>
        </p:nvSpPr>
        <p:spPr>
          <a:xfrm>
            <a:off x="3410712" y="1911096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10712" y="1911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bubble_UC6"/>
          <p:cNvSpPr/>
          <p:nvPr/>
        </p:nvSpPr>
        <p:spPr>
          <a:xfrm>
            <a:off x="3758184" y="1234440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758184" y="1234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bubble_UC7"/>
          <p:cNvSpPr/>
          <p:nvPr/>
        </p:nvSpPr>
        <p:spPr>
          <a:xfrm>
            <a:off x="4343400" y="1179576"/>
            <a:ext cx="512064" cy="51206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43400" y="11795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bubble_UC8"/>
          <p:cNvSpPr/>
          <p:nvPr/>
        </p:nvSpPr>
        <p:spPr>
          <a:xfrm>
            <a:off x="4023360" y="1856232"/>
            <a:ext cx="512064" cy="51206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023360" y="1856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080760" y="114300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Copilote conformité (RAG cité)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Registre DORA des prestataires TIC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Synthèse des incidents TIC majeurs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Tri des réclamations IARD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Assistant conseiller (interne)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Détection de fraude aux paiements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Score de crédit particuliers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Tarification santé par IA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080760" y="3931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: vague 1 vert, 2 orange, 3 rouge.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vagues en 2027, haut risque prêt en décembre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2926080" y="1143000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2027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366260" y="1143000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2027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806440" y="1143000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2027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246620" y="1143000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2027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5087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Socle commun (données, éval, audit)</a:t>
            </a:r>
            <a:endParaRPr lang="en-US" sz="1200" dirty="0"/>
          </a:p>
        </p:txBody>
      </p:sp>
      <p:sp>
        <p:nvSpPr>
          <p:cNvPr id="8" name="bar0"/>
          <p:cNvSpPr/>
          <p:nvPr/>
        </p:nvSpPr>
        <p:spPr>
          <a:xfrm>
            <a:off x="2962656" y="1545336"/>
            <a:ext cx="2087118" cy="237744"/>
          </a:xfrm>
          <a:prstGeom prst="roundRect">
            <a:avLst>
              <a:gd name="adj" fmla="val 1923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9019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 conformité</a:t>
            </a:r>
            <a:endParaRPr lang="en-US" sz="1200" dirty="0"/>
          </a:p>
        </p:txBody>
      </p:sp>
      <p:sp>
        <p:nvSpPr>
          <p:cNvPr id="10" name="bar1"/>
          <p:cNvSpPr/>
          <p:nvPr/>
        </p:nvSpPr>
        <p:spPr>
          <a:xfrm>
            <a:off x="2962656" y="1938528"/>
            <a:ext cx="1367028" cy="237744"/>
          </a:xfrm>
          <a:prstGeom prst="roundRect">
            <a:avLst>
              <a:gd name="adj" fmla="val 1923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29514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DORA des prestataires</a:t>
            </a:r>
            <a:endParaRPr lang="en-US" sz="1200" dirty="0"/>
          </a:p>
        </p:txBody>
      </p:sp>
      <p:sp>
        <p:nvSpPr>
          <p:cNvPr id="12" name="bar2"/>
          <p:cNvSpPr/>
          <p:nvPr/>
        </p:nvSpPr>
        <p:spPr>
          <a:xfrm>
            <a:off x="2962656" y="2331720"/>
            <a:ext cx="1367028" cy="237744"/>
          </a:xfrm>
          <a:prstGeom prst="roundRect">
            <a:avLst>
              <a:gd name="adj" fmla="val 1923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88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des incidents TIC</a:t>
            </a:r>
            <a:endParaRPr lang="en-US" sz="1200" dirty="0"/>
          </a:p>
        </p:txBody>
      </p:sp>
      <p:sp>
        <p:nvSpPr>
          <p:cNvPr id="14" name="bar3"/>
          <p:cNvSpPr/>
          <p:nvPr/>
        </p:nvSpPr>
        <p:spPr>
          <a:xfrm>
            <a:off x="3682746" y="2724912"/>
            <a:ext cx="1367028" cy="237744"/>
          </a:xfrm>
          <a:prstGeom prst="roundRect">
            <a:avLst>
              <a:gd name="adj" fmla="val 1923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0815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des réclamations IARD</a:t>
            </a:r>
            <a:endParaRPr lang="en-US" sz="1200" dirty="0"/>
          </a:p>
        </p:txBody>
      </p:sp>
      <p:sp>
        <p:nvSpPr>
          <p:cNvPr id="16" name="bar4"/>
          <p:cNvSpPr/>
          <p:nvPr/>
        </p:nvSpPr>
        <p:spPr>
          <a:xfrm>
            <a:off x="4402836" y="3118104"/>
            <a:ext cx="2087118" cy="237744"/>
          </a:xfrm>
          <a:prstGeom prst="roundRect">
            <a:avLst>
              <a:gd name="adj" fmla="val 1923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4747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conseiller</a:t>
            </a:r>
            <a:endParaRPr lang="en-US" sz="1200" dirty="0"/>
          </a:p>
        </p:txBody>
      </p:sp>
      <p:sp>
        <p:nvSpPr>
          <p:cNvPr id="18" name="bar5"/>
          <p:cNvSpPr/>
          <p:nvPr/>
        </p:nvSpPr>
        <p:spPr>
          <a:xfrm>
            <a:off x="5122926" y="3511296"/>
            <a:ext cx="2087118" cy="237744"/>
          </a:xfrm>
          <a:prstGeom prst="roundRect">
            <a:avLst>
              <a:gd name="adj" fmla="val 1923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8679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aux paiements</a:t>
            </a:r>
            <a:endParaRPr lang="en-US" sz="1200" dirty="0"/>
          </a:p>
        </p:txBody>
      </p:sp>
      <p:sp>
        <p:nvSpPr>
          <p:cNvPr id="20" name="bar6"/>
          <p:cNvSpPr/>
          <p:nvPr/>
        </p:nvSpPr>
        <p:spPr>
          <a:xfrm>
            <a:off x="5843016" y="3904488"/>
            <a:ext cx="2807208" cy="237744"/>
          </a:xfrm>
          <a:prstGeom prst="roundRect">
            <a:avLst>
              <a:gd name="adj" fmla="val 1923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426110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 et santé (haut risque)</a:t>
            </a:r>
            <a:endParaRPr lang="en-US" sz="1200" dirty="0"/>
          </a:p>
        </p:txBody>
      </p:sp>
      <p:sp>
        <p:nvSpPr>
          <p:cNvPr id="22" name="bar7"/>
          <p:cNvSpPr/>
          <p:nvPr/>
        </p:nvSpPr>
        <p:spPr>
          <a:xfrm>
            <a:off x="5843016" y="4297680"/>
            <a:ext cx="2807208" cy="237744"/>
          </a:xfrm>
          <a:prstGeom prst="roundRect">
            <a:avLst>
              <a:gd name="adj" fmla="val 19231"/>
            </a:avLst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3" name="deadline"/>
          <p:cNvSpPr/>
          <p:nvPr/>
        </p:nvSpPr>
        <p:spPr>
          <a:xfrm>
            <a:off x="8211541" y="1463040"/>
            <a:ext cx="0" cy="3200400"/>
          </a:xfrm>
          <a:prstGeom prst="line">
            <a:avLst/>
          </a:prstGeom>
          <a:noFill/>
          <a:ln w="19050">
            <a:solidFill>
              <a:srgbClr val="B42318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8266405" y="14447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déc.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Décisions demandées au comité</a:t>
            </a:r>
            <a:endParaRPr lang="en-US" sz="3000" dirty="0"/>
          </a:p>
        </p:txBody>
      </p:sp>
      <p:sp>
        <p:nvSpPr>
          <p:cNvPr id="3" name="ask0"/>
          <p:cNvSpPr/>
          <p:nvPr/>
        </p:nvSpPr>
        <p:spPr>
          <a:xfrm>
            <a:off x="548640" y="1280160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1E3157"/>
          </a:solidFill>
          <a:ln w="12700">
            <a:solidFill>
              <a:srgbClr val="1E315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533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D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la vague 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73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Copilote, registre DORA et synthèse d'incidents, budget socle inclus.</a:t>
            </a:r>
            <a:endParaRPr lang="en-US" sz="1200" dirty="0"/>
          </a:p>
        </p:txBody>
      </p:sp>
      <p:sp>
        <p:nvSpPr>
          <p:cNvPr id="6" name="ask1"/>
          <p:cNvSpPr/>
          <p:nvPr/>
        </p:nvSpPr>
        <p:spPr>
          <a:xfrm>
            <a:off x="548640" y="2240280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1E3157"/>
          </a:solidFill>
          <a:ln w="12700">
            <a:solidFill>
              <a:srgbClr val="1E31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313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D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Adopter le socle commun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334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 de données, évaluation en CI, registre des risques et journal d'audit pour tout projet IA.</a:t>
            </a:r>
            <a:endParaRPr lang="en-US" sz="1200" dirty="0"/>
          </a:p>
        </p:txBody>
      </p:sp>
      <p:sp>
        <p:nvSpPr>
          <p:cNvPr id="9" name="ask2"/>
          <p:cNvSpPr/>
          <p:nvPr/>
        </p:nvSpPr>
        <p:spPr>
          <a:xfrm>
            <a:off x="548640" y="3200400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1E3157"/>
          </a:solidFill>
          <a:ln w="12700">
            <a:solidFill>
              <a:srgbClr val="1E31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2735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D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Nommer les responsables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5935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propriétaire métier et un responsable des risques par cas d'usage, revue trimestrielle.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C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suivis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169164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refus hors périmètre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citant la bonne source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Réclamations à revoir non manquées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et latence par requête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Intégrité du journal d'audit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9B4C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xin Conformite">
  <a:themeElements>
    <a:clrScheme name="Vexin Conformite">
      <a:dk1>
        <a:srgbClr val="1B2333"/>
      </a:dk1>
      <a:lt1>
        <a:srgbClr val="FFFFFF"/>
      </a:lt1>
      <a:dk2>
        <a:srgbClr val="14213D"/>
      </a:dk2>
      <a:lt2>
        <a:srgbClr val="EEF2F5"/>
      </a:lt2>
      <a:accent1>
        <a:srgbClr val="0F766E"/>
      </a:accent1>
      <a:accent2>
        <a:srgbClr val="D97706"/>
      </a:accent2>
      <a:accent3>
        <a:srgbClr val="B42318"/>
      </a:accent3>
      <a:accent4>
        <a:srgbClr val="5B6B7F"/>
      </a:accent4>
      <a:accent5>
        <a:srgbClr val="99D5CC"/>
      </a:accent5>
      <a:accent6>
        <a:srgbClr val="F3C98B"/>
      </a:accent6>
      <a:hlink>
        <a:srgbClr val="0F766E"/>
      </a:hlink>
      <a:folHlink>
        <a:srgbClr val="5B6B7F"/>
      </a:folHlink>
    </a:clrScheme>
    <a:fontScheme name="Vexin Conformi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Cas fictif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Feuille de route Data &amp; IA - Banque du Vexin (cas fictif)</dc:title>
  <dc:subject>PptxGenJS Presentation</dc:subject>
  <dc:creator>Seifeddine Ben Rhouma</dc:creator>
  <cp:lastModifiedBy>Seifeddine Ben Rhouma</cp:lastModifiedBy>
  <cp:revision>1</cp:revision>
  <dcterms:created xsi:type="dcterms:W3CDTF">2026-10-14T11:57:13Z</dcterms:created>
  <dcterms:modified xsi:type="dcterms:W3CDTF">2026-10-14T11:57:13Z</dcterms:modified>
</cp:coreProperties>
</file>